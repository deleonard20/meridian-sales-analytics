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F6E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43</c:v>
                </c:pt>
                <c:pt idx="1">
                  <c:v>57</c:v>
                </c:pt>
                <c:pt idx="2">
                  <c:v>50</c:v>
                </c:pt>
                <c:pt idx="3">
                  <c:v>38</c:v>
                </c:pt>
                <c:pt idx="4">
                  <c:v>56</c:v>
                </c:pt>
                <c:pt idx="5">
                  <c:v>48</c:v>
                </c:pt>
                <c:pt idx="6">
                  <c:v>68</c:v>
                </c:pt>
                <c:pt idx="7">
                  <c:v>44</c:v>
                </c:pt>
                <c:pt idx="8">
                  <c:v>60</c:v>
                </c:pt>
                <c:pt idx="9">
                  <c:v>89</c:v>
                </c:pt>
                <c:pt idx="10">
                  <c:v>83</c:v>
                </c:pt>
                <c:pt idx="11">
                  <c:v>108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AOV ($)</c:v>
                </c:pt>
              </c:strCache>
            </c:strRef>
          </c:tx>
          <c:spPr>
            <a:solidFill>
              <a:srgbClr val="D98E04"/>
            </a:solidFill>
            <a:ln w="31750" cap="flat">
              <a:solidFill>
                <a:srgbClr val="D98E0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98E04"/>
              </a:solidFill>
              <a:ln w="9525" cap="flat">
                <a:solidFill>
                  <a:srgbClr val="D98E0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1307</c:v>
                </c:pt>
                <c:pt idx="1">
                  <c:v>2039</c:v>
                </c:pt>
                <c:pt idx="2">
                  <c:v>1661</c:v>
                </c:pt>
                <c:pt idx="3">
                  <c:v>1176</c:v>
                </c:pt>
                <c:pt idx="4">
                  <c:v>1700</c:v>
                </c:pt>
                <c:pt idx="5">
                  <c:v>1380</c:v>
                </c:pt>
                <c:pt idx="6">
                  <c:v>1800</c:v>
                </c:pt>
                <c:pt idx="7">
                  <c:v>1265</c:v>
                </c:pt>
                <c:pt idx="8">
                  <c:v>1571</c:v>
                </c:pt>
                <c:pt idx="9">
                  <c:v>1567</c:v>
                </c:pt>
                <c:pt idx="10">
                  <c:v>1661</c:v>
                </c:pt>
                <c:pt idx="11">
                  <c:v>1494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 Rate %</c:v>
                </c:pt>
              </c:strCache>
            </c:strRef>
          </c:tx>
          <c:spPr>
            <a:solidFill>
              <a:srgbClr val="B3472F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United Package</c:v>
                  </c:pt>
                  <c:pt idx="1">
                    <c:v>Speedy Express</c:v>
                  </c:pt>
                  <c:pt idx="2">
                    <c:v>Federal Shipping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5.08</c:v>
                </c:pt>
                <c:pt idx="1">
                  <c:v>4.9</c:v>
                </c:pt>
                <c:pt idx="2">
                  <c:v>3.61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F6E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Rössle Sauerkraut</c:v>
                  </c:pt>
                  <c:pt idx="1">
                    <c:v>Carnarvon Tigers</c:v>
                  </c:pt>
                  <c:pt idx="2">
                    <c:v>Alice Mutton</c:v>
                  </c:pt>
                  <c:pt idx="3">
                    <c:v>Manjimup Dried Apples</c:v>
                  </c:pt>
                  <c:pt idx="4">
                    <c:v>Gnocchi di nonna Alice</c:v>
                  </c:pt>
                  <c:pt idx="5">
                    <c:v>Camembert Pierrot</c:v>
                  </c:pt>
                  <c:pt idx="6">
                    <c:v>Tarte au sucre</c:v>
                  </c:pt>
                  <c:pt idx="7">
                    <c:v>Raclette Courdavault</c:v>
                  </c:pt>
                  <c:pt idx="8">
                    <c:v>Thüringer Rostbratwurst</c:v>
                  </c:pt>
                  <c:pt idx="9">
                    <c:v>Côte de Blaye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</c:v>
                </c:pt>
                <c:pt idx="1">
                  <c:v>29</c:v>
                </c:pt>
                <c:pt idx="2">
                  <c:v>33</c:v>
                </c:pt>
                <c:pt idx="3">
                  <c:v>42</c:v>
                </c:pt>
                <c:pt idx="4">
                  <c:v>43</c:v>
                </c:pt>
                <c:pt idx="5">
                  <c:v>47</c:v>
                </c:pt>
                <c:pt idx="6">
                  <c:v>47</c:v>
                </c:pt>
                <c:pt idx="7">
                  <c:v>71</c:v>
                </c:pt>
                <c:pt idx="8">
                  <c:v>80</c:v>
                </c:pt>
                <c:pt idx="9">
                  <c:v>141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F6E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Steven Buchanan</c:v>
                  </c:pt>
                  <c:pt idx="1">
                    <c:v>Anne Dodsworth</c:v>
                  </c:pt>
                  <c:pt idx="2">
                    <c:v>Michael Suyama</c:v>
                  </c:pt>
                  <c:pt idx="3">
                    <c:v>Robert King</c:v>
                  </c:pt>
                  <c:pt idx="4">
                    <c:v>Andrew Fuller</c:v>
                  </c:pt>
                  <c:pt idx="5">
                    <c:v>Laura Callahan</c:v>
                  </c:pt>
                  <c:pt idx="6">
                    <c:v>Nancy Davolio</c:v>
                  </c:pt>
                  <c:pt idx="7">
                    <c:v>Janet Leverling</c:v>
                  </c:pt>
                  <c:pt idx="8">
                    <c:v>Margaret Peacock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</c:v>
                </c:pt>
                <c:pt idx="1">
                  <c:v>43</c:v>
                </c:pt>
                <c:pt idx="2">
                  <c:v>67</c:v>
                </c:pt>
                <c:pt idx="3">
                  <c:v>72</c:v>
                </c:pt>
                <c:pt idx="4">
                  <c:v>96</c:v>
                </c:pt>
                <c:pt idx="5">
                  <c:v>104</c:v>
                </c:pt>
                <c:pt idx="6">
                  <c:v>123</c:v>
                </c:pt>
                <c:pt idx="7">
                  <c:v>127</c:v>
                </c:pt>
                <c:pt idx="8">
                  <c:v>156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6E77"/>
              </a:solidFill>
              <a:effectLst/>
            </c:spPr>
          </c:dPt>
          <c:dPt>
            <c:idx val="1"/>
            <c:bubble3D val="0"/>
            <c:spPr>
              <a:solidFill>
                <a:srgbClr val="D98E04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Loyal Customers</c:v>
                </c:pt>
                <c:pt idx="1">
                  <c:v>New Customers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698</c:v>
                </c:pt>
                <c:pt idx="1">
                  <c:v>46</c:v>
                </c:pt>
              </c:numCache>
            </c:numRef>
          </c:val>
        </c:ser>
        <c:firstSliceAng val="0"/>
      </c:pieChart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E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B545C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0B545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77240"/>
            <a:ext cx="310896" cy="31089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" y="850392"/>
            <a:ext cx="182880" cy="1828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PANGAN GLOBAL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Revenue Performance Analysis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9509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7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Q4 Momentum into Durable Growth: Closing the Basket-Size Gap Behind a 62% Quarterly Order Surge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   |   Deleonard Simanjorang   | 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Company!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We?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Pangan Global (MPG) is a specialty food &amp; beverage trading company, sourcing premium beverages, dairy, confections, and gourmet goods for retail, HORECA, and distribution partners across Europe and beyond.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7220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2200" y="192024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every order accurately and reliably, building long-term trading partnerships through consistent product quality and service.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into the region's most trusted specialty food &amp; beverage trading partner, known for reliability at scale.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4160520"/>
            <a:ext cx="3544824" cy="1554480"/>
          </a:xfrm>
          <a:prstGeom prst="roundRect">
            <a:avLst>
              <a:gd name="adj" fmla="val 4706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4306824"/>
            <a:ext cx="3215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67512" y="5031029"/>
            <a:ext cx="3215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trading accounts across 15+ countries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22064" y="4160520"/>
            <a:ext cx="3544824" cy="1554480"/>
          </a:xfrm>
          <a:prstGeom prst="roundRect">
            <a:avLst>
              <a:gd name="adj" fmla="val 4706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6656" y="4306824"/>
            <a:ext cx="3215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486656" y="5031029"/>
            <a:ext cx="3215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across 8 specialty food &amp; beverage categories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41208" y="4160520"/>
            <a:ext cx="3544824" cy="1554480"/>
          </a:xfrm>
          <a:prstGeom prst="roundRect">
            <a:avLst>
              <a:gd name="adj" fmla="val 4706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5800" y="4306824"/>
            <a:ext cx="3215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05800" y="5031029"/>
            <a:ext cx="32156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team members driving order volume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Pangan Global closed Q4 2025 with </a:t>
            </a:r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$280K in revenue across 179 orders, up 62% quarter-over-quarter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But growth in volume masked a decline in basket size — and revealed how concentrated that growth really is.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leverages PostgreSQL and Tableau to evaluate 830 orders across FY2024–2025, pinpointing how basket size, delivery reliability, and revenue concentration shape Meridian's growth trajectory.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peaked at $1,661 in November then fell 10% to $1,494 in December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even as order count hit its yearly high, leaving an estimated $17.4K in Q4 revenue unrealized.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44728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Package, Meridian's highest-volume courier (39% of shipments), posts a 5.08% late rate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just above the 5% threshold considered strong performance industry-wide.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105656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products contribute 52% of top-10 revenue, and the top 3 sales reps drive 49% of all orders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concentration that makes growth fragile.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764024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generate 93.79% of revenue; new accounts order 51% less per transaction ($811 vs. $1,647)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signaling a thin, slow-ramping acquisition engine.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5422392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2000"/>
              </a:lnSpc>
              <a:buSzPct val="100000"/>
              <a:buChar char="●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data-driven recommendations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proposed to recover AOV and broaden the revenue base within 2 quarters, tracked via a real-time Tableau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left ~$17K on the table this quarter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closing the AOV gap is a growth priority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3544824" cy="1691640"/>
          </a:xfrm>
          <a:prstGeom prst="roundRect">
            <a:avLst>
              <a:gd name="adj" fmla="val 4324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1837944"/>
            <a:ext cx="321564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$1,661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67512" y="2638958"/>
            <a:ext cx="32156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Average Order Value achieved (November 2025) — proof a higher basket size is achievable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22064" y="1691640"/>
            <a:ext cx="3544824" cy="1691640"/>
          </a:xfrm>
          <a:prstGeom prst="roundRect">
            <a:avLst>
              <a:gd name="adj" fmla="val 4324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6656" y="1837944"/>
            <a:ext cx="321564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$280K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486656" y="2638958"/>
            <a:ext cx="32156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Q4 2025 revenue (179 orders @ $1,564 avg AOV)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41208" y="1691640"/>
            <a:ext cx="3544824" cy="1691640"/>
          </a:xfrm>
          <a:prstGeom prst="roundRect">
            <a:avLst>
              <a:gd name="adj" fmla="val 4324"/>
            </a:avLst>
          </a:prstGeom>
          <a:solidFill>
            <a:srgbClr val="EAF4F2"/>
          </a:solidFill>
          <a:ln w="19050">
            <a:solidFill>
              <a:srgbClr val="D98E0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5800" y="1837944"/>
            <a:ext cx="3215640" cy="845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$297K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05800" y="2638958"/>
            <a:ext cx="321564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Q4 revenue had AOV held at the November peak across all 179 orders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61188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0F6E77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794760"/>
            <a:ext cx="106344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Q4 Opportunity Cost: ~$17.4K (6.2% of quarterly revenue)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Basket-size erosion during the strongest demand period of the year. In December alone, the gap was ~$12.1K — 11.2% of that month's revenue.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based on order-weighted average order value across Q4 2025; illustrative modeling, not an audited revenue figure.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57150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Annual Recurrence: ~$70K if the same in-quarter AOV pattern repeats each quarter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 | Deleonard Simanjorang | 2026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driving this? — Project Background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3544824" cy="146304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517904"/>
            <a:ext cx="3215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67512" y="2190902"/>
            <a:ext cx="32156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(≤ 5% late) — strong-performance benchmark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2064" y="1371600"/>
            <a:ext cx="3544824" cy="1463040"/>
          </a:xfrm>
          <a:prstGeom prst="roundRect">
            <a:avLst>
              <a:gd name="adj" fmla="val 5000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6656" y="1517904"/>
            <a:ext cx="3215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4.57%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486656" y="2190902"/>
            <a:ext cx="32156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Meridian's blended late rate across all couriers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1208" y="1371600"/>
            <a:ext cx="3544824" cy="1463040"/>
          </a:xfrm>
          <a:prstGeom prst="roundRect">
            <a:avLst>
              <a:gd name="adj" fmla="val 5000"/>
            </a:avLst>
          </a:prstGeom>
          <a:solidFill>
            <a:srgbClr val="EAF4F2"/>
          </a:solidFill>
          <a:ln w="19050">
            <a:solidFill>
              <a:srgbClr val="D98E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5800" y="1517904"/>
            <a:ext cx="3215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5.08%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305800" y="2190902"/>
            <a:ext cx="32156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Package — highest-volume courier, just above benchmark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063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Benchmark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383280"/>
            <a:ext cx="5349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Meridian's blended delivery performance sits inside the industry's “strong performance” range — but United Package, which carries 39% of all shipments, crosses just above the 5% ceiling most logistics benchmarks treat as excellent service.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3063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vs. Concentration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338328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momentum is real: Q4 revenue grew 62% quarter-over-quarter. But the same data shows that momentum is unevenly distributed — across months (AOV), couriers (SLA), products, sales reps, and customers — creating risk beneath the topline number.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257800"/>
            <a:ext cx="11183112" cy="1051560"/>
          </a:xfrm>
          <a:prstGeom prst="roundRect">
            <a:avLst>
              <a:gd name="adj" fmla="val 6957"/>
            </a:avLst>
          </a:prstGeom>
          <a:solidFill>
            <a:srgbClr val="EAF4F2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376672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benchmark: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 typically stay a minority of the base while driving an outsized share of revenue (~44% of revenue from ~21% of customers, per e-commerce benchmarks). At Meridian, loyal accounts are 83% of the active base and 93.79% of revenue — a heavier concentration than typical, and a signal that new-account growth deserves structured attention.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444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75564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Pangan Global's Q4 2025 order volume grew 62% quarter-over-quarter, but average order value fell 10% within the quarter, and revenue remains concentrated in a narrow base of products, sales reps, and repeat accounts.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14447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63640" y="1755648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structural drivers behind Q4's basket-size erosion and revenue concentration, and deliver data-driven recommendations to recover AOV to the $1,661 peak and broaden the revenue base — measured via a real-time dashboard within 2 quarters.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AF4F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49377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order trend analysis (FY2025), shipper SLA across all shipped orders, product revenue ranking, sales rep performance, and customer segmentation (new vs. loyal).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29718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108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342900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cost/margin analysis, marketing channel attribution, and individual employee performance review — excluded to keep focus on order, revenue, and fulfillment structure.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521208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 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(DBeaver) for data extraction, cleaning &amp; analysis  ·  Tableau for dashboard development &amp; monitoring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80160" y="1554480"/>
            <a:ext cx="502920" cy="502920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26060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business problem &amp; Q4 close objective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3101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Stakeholder brief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43016" y="1554480"/>
            <a:ext cx="502920" cy="502920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14" name="Text 12"/>
          <p:cNvSpPr/>
          <p:nvPr/>
        </p:nvSpPr>
        <p:spPr>
          <a:xfrm>
            <a:off x="5843016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65776" y="212140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Cleaning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65776" y="26060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&amp; validate order, product, shipper &amp; customer data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65776" y="33101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PostgreSQL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405872" y="1554480"/>
            <a:ext cx="502920" cy="502920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19" name="Text 17"/>
          <p:cNvSpPr/>
          <p:nvPr/>
        </p:nvSpPr>
        <p:spPr>
          <a:xfrm>
            <a:off x="10405872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28632" y="212140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628632" y="26060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revenue, SLA &amp; concentration patterns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28632" y="33101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PostgreSQL (SQL)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047238" y="4069080"/>
            <a:ext cx="502920" cy="502920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24" name="Text 22"/>
          <p:cNvSpPr/>
          <p:nvPr/>
        </p:nvSpPr>
        <p:spPr>
          <a:xfrm>
            <a:off x="3047238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269998" y="463600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269998" y="51206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actionable recommendations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69998" y="58247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Output: Business Insights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38794" y="4069080"/>
            <a:ext cx="502920" cy="502920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29" name="Text 27"/>
          <p:cNvSpPr/>
          <p:nvPr/>
        </p:nvSpPr>
        <p:spPr>
          <a:xfrm>
            <a:off x="8638794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861554" y="4636008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7861554" y="51206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real-time performance monitoring dashboard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1554" y="58247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Tableau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 | Deleonard Simanjorang | 2026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data tell us? — Monthly Performance &amp; AOV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Revenue, FY2025 ($K)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627632"/>
          <a:ext cx="56235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39136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Average Order Value, FY2025 ($)</a:t>
            </a:r>
            <a:endParaRPr lang="en-US" sz="11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502920" y="4206240"/>
          <a:ext cx="56235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6309360" y="137160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revenue climbed from $89K (Oct) to $108K (Dec), with order count rising from 57 to 72 — but AOV peaked in November at $1,661 and fell 10% by December to $1,494, the lowest point of the quarter despite the highest order volume.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309360" y="370332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demand is real, but it's increasingly carried by smaller, more frequent orders rather than larger baskets — seasonal volume isn't yet being monetized to its full potential.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data tell us? — Delivery Reliability (Shipper SLA)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Rate by Courier (%)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737360"/>
          <a:ext cx="56235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02920" y="2395728"/>
            <a:ext cx="1828800" cy="0"/>
          </a:xfrm>
          <a:prstGeom prst="line">
            <a:avLst/>
          </a:prstGeom>
          <a:noFill/>
          <a:ln w="15875">
            <a:solidFill>
              <a:srgbClr val="D98E04"/>
            </a:solidFill>
            <a:prstDash val="dash"/>
          </a:ln>
        </p:spPr>
      </p:sp>
      <p:sp>
        <p:nvSpPr>
          <p:cNvPr id="11" name="Text 8"/>
          <p:cNvSpPr/>
          <p:nvPr/>
        </p:nvSpPr>
        <p:spPr>
          <a:xfrm>
            <a:off x="502920" y="2148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benchmark line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09360" y="137160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Package handles the largest shipment volume (315 of 809 shipments, 39%) but posts the highest late rate at 5.08% — just above the 5% threshold generally considered strong performance. Federal Shipping is the strongest performer at 3.61%.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370332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risk is concentrated exactly where volume is highest — the courier growth depends on most is also the one closest to slipping out of benchmark range.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data tell us? — Product Revenue Concentration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Revenue, All-Time ($K)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664208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309360" y="137160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de Blaye alone generated $141K — more than the bottom 5 of the top 10 combined. The top 3 products (Côte de Blaye, Thüringer Rostbratwurst, Raclette Courdavault) account for 52% of top-10 revenue ($293K of $559K).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9360" y="370332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hero SKUs carries disproportionate weight — efficient today, but a concentration risk if demand or supply shifts on any one of them.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data tell us? — Sales Team Concentration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Sales Rep, All-Time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664208"/>
          <a:ext cx="57607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309360" y="137160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Margaret Peacock, Janet Leverling, and Nancy Davolio together drive 49% of all orders (406 of 830). The remaining 6 reps split the other 51% — the lowest converter, Michael Suyama, closes only 41.79% of orders above $1,000, versus 51%+ for the team leader.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9360" y="370332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is healthy in aggregate, but it depends heavily on 3 of 9 reps — efficient short-term, but fragile if any one of them is unavailable or departs.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data tell us? — New vs. Loyal Customers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Share, FY2025</a:t>
            </a:r>
            <a:endParaRPr lang="en-US" sz="11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1051560" y="1783080"/>
          <a:ext cx="4663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309360" y="137160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(74 of 89 active accounts) generated 93.79% of FY2025 revenue ($698K), while the 15 new accounts added this year contributed just 6.21% ($46K) — and ordered at less than half the basket size of loyal accounts ($811 vs. $1,647 AOV).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9360" y="370332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base is doing the heavy lifting, but new accounts aren't just fewer — they're also ramping slowly, suggesting onboarding isn't yet converting trial orders into full-size accounts.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track progress?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Commercial Performance Dashboard (Tableau)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5760720" cy="4480560"/>
          </a:xfrm>
          <a:prstGeom prst="roundRect">
            <a:avLst>
              <a:gd name="adj" fmla="val 1633"/>
            </a:avLst>
          </a:prstGeom>
          <a:solidFill>
            <a:srgbClr val="1F2937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87452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2A3B4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4767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$280K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23591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Revenue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60320" y="187452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2A3B44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94767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560320" y="23591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Orders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89120" y="1874520"/>
            <a:ext cx="1691640" cy="868680"/>
          </a:xfrm>
          <a:prstGeom prst="roundRect">
            <a:avLst>
              <a:gd name="adj" fmla="val 6316"/>
            </a:avLst>
          </a:prstGeom>
          <a:solidFill>
            <a:srgbClr val="2A3B44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947672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$1,564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389120" y="235915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AOV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2926080"/>
            <a:ext cx="3383280" cy="3017520"/>
          </a:xfrm>
          <a:prstGeom prst="roundRect">
            <a:avLst>
              <a:gd name="adj" fmla="val 1818"/>
            </a:avLst>
          </a:prstGeom>
          <a:solidFill>
            <a:srgbClr val="2A3B44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035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/ Rep / Courier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05840" y="5303520"/>
            <a:ext cx="320040" cy="45720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22" name="Shape 20"/>
          <p:cNvSpPr/>
          <p:nvPr/>
        </p:nvSpPr>
        <p:spPr>
          <a:xfrm>
            <a:off x="1508760" y="4937760"/>
            <a:ext cx="320040" cy="822960"/>
          </a:xfrm>
          <a:prstGeom prst="rect">
            <a:avLst/>
          </a:prstGeom>
          <a:solidFill>
            <a:srgbClr val="D98E04"/>
          </a:solidFill>
          <a:ln/>
        </p:spPr>
      </p:sp>
      <p:sp>
        <p:nvSpPr>
          <p:cNvPr id="23" name="Shape 21"/>
          <p:cNvSpPr/>
          <p:nvPr/>
        </p:nvSpPr>
        <p:spPr>
          <a:xfrm>
            <a:off x="2011680" y="4480560"/>
            <a:ext cx="320040" cy="1280160"/>
          </a:xfrm>
          <a:prstGeom prst="rect">
            <a:avLst/>
          </a:prstGeom>
          <a:solidFill>
            <a:srgbClr val="0F6E77"/>
          </a:solidFill>
          <a:ln/>
        </p:spPr>
      </p:sp>
      <p:sp>
        <p:nvSpPr>
          <p:cNvPr id="24" name="Shape 22"/>
          <p:cNvSpPr/>
          <p:nvPr/>
        </p:nvSpPr>
        <p:spPr>
          <a:xfrm>
            <a:off x="2514600" y="3749040"/>
            <a:ext cx="320040" cy="2011680"/>
          </a:xfrm>
          <a:prstGeom prst="rect">
            <a:avLst/>
          </a:prstGeom>
          <a:solidFill>
            <a:srgbClr val="0F6E77"/>
          </a:solidFill>
          <a:ln/>
        </p:spPr>
      </p:sp>
      <p:sp>
        <p:nvSpPr>
          <p:cNvPr id="25" name="Shape 23"/>
          <p:cNvSpPr/>
          <p:nvPr/>
        </p:nvSpPr>
        <p:spPr>
          <a:xfrm>
            <a:off x="3017520" y="4206240"/>
            <a:ext cx="320040" cy="1554480"/>
          </a:xfrm>
          <a:prstGeom prst="rect">
            <a:avLst/>
          </a:prstGeom>
          <a:solidFill>
            <a:srgbClr val="0F6E77"/>
          </a:solidFill>
          <a:ln/>
        </p:spPr>
      </p:sp>
      <p:sp>
        <p:nvSpPr>
          <p:cNvPr id="26" name="Shape 24"/>
          <p:cNvSpPr/>
          <p:nvPr/>
        </p:nvSpPr>
        <p:spPr>
          <a:xfrm>
            <a:off x="3520440" y="4846320"/>
            <a:ext cx="320040" cy="914400"/>
          </a:xfrm>
          <a:prstGeom prst="rect">
            <a:avLst/>
          </a:prstGeom>
          <a:solidFill>
            <a:srgbClr val="0F6E77"/>
          </a:solidFill>
          <a:ln/>
        </p:spPr>
      </p:sp>
      <p:sp>
        <p:nvSpPr>
          <p:cNvPr id="27" name="Shape 25"/>
          <p:cNvSpPr/>
          <p:nvPr/>
        </p:nvSpPr>
        <p:spPr>
          <a:xfrm>
            <a:off x="4251960" y="2926080"/>
            <a:ext cx="1874520" cy="3017520"/>
          </a:xfrm>
          <a:prstGeom prst="roundRect">
            <a:avLst>
              <a:gd name="adj" fmla="val 2927"/>
            </a:avLst>
          </a:prstGeom>
          <a:solidFill>
            <a:srgbClr val="2A3B44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30358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Trend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434840" y="5120640"/>
            <a:ext cx="457200" cy="-365760"/>
          </a:xfrm>
          <a:prstGeom prst="line">
            <a:avLst/>
          </a:prstGeom>
          <a:noFill/>
          <a:ln w="25400">
            <a:solidFill>
              <a:srgbClr val="D98E0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4754880"/>
            <a:ext cx="457200" cy="457200"/>
          </a:xfrm>
          <a:prstGeom prst="line">
            <a:avLst/>
          </a:prstGeom>
          <a:noFill/>
          <a:ln w="25400">
            <a:solidFill>
              <a:srgbClr val="D98E0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49240" y="5212080"/>
            <a:ext cx="457200" cy="640080"/>
          </a:xfrm>
          <a:prstGeom prst="line">
            <a:avLst/>
          </a:prstGeom>
          <a:noFill/>
          <a:ln w="25400">
            <a:solidFill>
              <a:srgbClr val="D98E0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169164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200253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— Quarterly Revenue, Order Count &amp; Average Order Value at a glance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09360" y="265176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296265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 by Product, Sales Rep &amp; Courier SLA, identifying concentration &amp; risk areas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309360" y="361188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View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309360" y="392277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AOV trend flagging basket-size erosion early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09360" y="470916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EAF4F2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482803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Goal: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progress toward the $1,661 AOV target and a more diversified revenue base across all key risk areas.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 | Deleonard Simanjorang | 2026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Size (AOV)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fell 10% from November's $1,661 peak to $1,494 in December, leaving an estimated $17.4K in Q4 revenue unrealized — growth is happening, but it isn't being fully monetized.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5349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and promotional volume tends to arrive as smaller, more frequent orders. There is currently no structured incentive — tiered pricing, bundling, or reorder ease — pushing basket size upward.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55080" y="2057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Unaddressed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080" y="2359152"/>
            <a:ext cx="5349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stays purely volume-dependent, adding fulfillment and shipping pressure without a matching improvement in order economics.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4370832"/>
            <a:ext cx="51252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Tiered Pricing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volume-discount threshold just above the current AOV (~$1,700+) to nudge basket size upward.
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Pricing tier model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1636" y="4279392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6228" y="4370832"/>
            <a:ext cx="51252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Bundle &amp; Cross-Sell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hero products (e.g., Côte de Blaye) with adjacent-category items in pre-set bundles at order time.
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Bundle recommendation rules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669280"/>
            <a:ext cx="11183112" cy="621792"/>
          </a:xfrm>
          <a:prstGeom prst="roundRect">
            <a:avLst>
              <a:gd name="adj" fmla="val 10294"/>
            </a:avLst>
          </a:prstGeom>
          <a:solidFill>
            <a:srgbClr val="0F6E77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5669280"/>
            <a:ext cx="107807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AOV to at least the $1,661 peak next high-demand quarter — closing the ~$17K quarterly gap.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Reliability (Shipper SLA)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Package ships 39% of all volume but posts the highest late rate (5.08%) — just above the 5% “strong performance” benchmark. Federal Shipping outperforms at 3.61%.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5349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allocation across couriers doesn't currently account for performance — the highest-volume courier isn't necessarily the most reliable one.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55080" y="2057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Unaddressed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080" y="2359152"/>
            <a:ext cx="5349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demand surges recur (like Q4), the highest-volume courier's late rate risks drifting further past benchmark — directly exposing customer experience during the periods that matter most.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4370832"/>
            <a:ext cx="51252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Rebalance Peak Allocation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 portion of United Package's peak-season volume to Federal Shipping, the strongest performer.
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Courier allocation model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1636" y="4279392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6228" y="4370832"/>
            <a:ext cx="51252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SLA Review Cadence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quarterly SLA scorecards tied to the 95%+ on-time benchmark.
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Courier scorecard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669280"/>
            <a:ext cx="11183112" cy="621792"/>
          </a:xfrm>
          <a:prstGeom prst="roundRect">
            <a:avLst>
              <a:gd name="adj" fmla="val 10294"/>
            </a:avLst>
          </a:prstGeom>
          <a:solidFill>
            <a:srgbClr val="0F6E77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5669280"/>
            <a:ext cx="107807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blended late rate from 4.57% toward Federal Shipping's 3.61% benchmark as volume scales.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Revenue Concentration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products contribute 52% of top-10 revenue; Côte de Blaye alone equals more than the bottom 5 products combined.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5349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promotional effort naturally gravitates toward proven hero SKUs, leaving less-established products under-promoted.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55080" y="2057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Unaddressed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080" y="2359152"/>
            <a:ext cx="5349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stays exposed to single-product demand or supply shifts, and cross-sell potential from the other ~67 products in the catalog goes untapped.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4370832"/>
            <a:ext cx="51252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Rising-Star Watchlist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products just outside the top 10 for targeted account outreach and promotion.
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Quarterly product tracker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1636" y="4279392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6228" y="4370832"/>
            <a:ext cx="51252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Anchor Bundling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top-3 hero products to bundles that pull adjacent-category items along.
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Bundle recommendation rules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669280"/>
            <a:ext cx="11183112" cy="621792"/>
          </a:xfrm>
          <a:prstGeom prst="roundRect">
            <a:avLst>
              <a:gd name="adj" fmla="val 10294"/>
            </a:avLst>
          </a:prstGeom>
          <a:solidFill>
            <a:srgbClr val="0F6E77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5669280"/>
            <a:ext cx="107807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top-3 share of top-10 revenue from 52% toward ~40% within 2 quarters, without slowing hero product growth.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Concentration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9 reps (Margaret Peacock, Janet Leverling, Nancy Davolio) drive 49% of all orders; the lowest big-order conversion rate on the team is 41.79%, roughly 10 points behind the leader.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5349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likely hold the largest, longest-tenured accounts — an advantage of account ownership more than a repeatable, team-wide process.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355080" y="2057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Unaddressed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080" y="2359152"/>
            <a:ext cx="5349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Key-person dependency: nearly half of order volume rests on 3 individuals, while newer or lower-volume reps may be under-supported rather than underperforming.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279392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4370832"/>
            <a:ext cx="51252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Mentorship Pairing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top-3 reps with lower-volume reps to transfer account-handling practices that work.
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Structured mentorship program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1636" y="4279392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6228" y="4370832"/>
            <a:ext cx="51252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Account Distribution Review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growth accounts aren't systematically concentrated with only 3 reps.
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Territory/account review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669280"/>
            <a:ext cx="11183112" cy="621792"/>
          </a:xfrm>
          <a:prstGeom prst="roundRect">
            <a:avLst>
              <a:gd name="adj" fmla="val 10294"/>
            </a:avLst>
          </a:prstGeom>
          <a:solidFill>
            <a:srgbClr val="0F6E77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" y="5669280"/>
            <a:ext cx="107807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team's lowest big-order rates toward the ~48% team median, reducing single-rep concentration risk.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 Growth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07008"/>
            <a:ext cx="1118311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accounts generate 93.79% of revenue; the 15 new accounts added in FY2025 order at less than half the basket size of loyal accounts ($811 vs. $1,647).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Hypothesis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359152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1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are still in a trial/pilot ordering phase and haven't been offered a clear path to larger, recurring orders.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136392"/>
            <a:ext cx="5349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2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pace itself is thin (15 new accounts vs. 74 existing), so the new-account sample is small and early-stage by nature.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55080" y="205740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4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Unaddressed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2359152"/>
            <a:ext cx="53492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base stays concentrated in 74 accounts, with no scaled “next wave” to backfill growth if even a few loyal accounts churn.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79392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370832"/>
            <a:ext cx="51252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New-Account Ramp Playbook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first 2–3 order plan targeting basket-size growth toward the loyal-customer benchmark.
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30-60-90 style ramp plan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1636" y="4279392"/>
            <a:ext cx="5454396" cy="1207008"/>
          </a:xfrm>
          <a:prstGeom prst="roundRect">
            <a:avLst>
              <a:gd name="adj" fmla="val 5303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6228" y="4370832"/>
            <a:ext cx="51252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Acquisition Funnel Review
</a:t>
            </a:r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why only 15 new accounts were added this year relative to the active base.
</a:t>
            </a:r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Acquisition funnel tracking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5669280"/>
            <a:ext cx="11183112" cy="621792"/>
          </a:xfrm>
          <a:prstGeom prst="roundRect">
            <a:avLst>
              <a:gd name="adj" fmla="val 10294"/>
            </a:avLst>
          </a:prstGeom>
          <a:solidFill>
            <a:srgbClr val="0F6E77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5669280"/>
            <a:ext cx="1078077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new-account AOV toward $1,200+ within 2 quarters of onboarding, and increase new-logo pace beyond today's 74 loyal accounts.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 | Deleonard Simanjorang | 2026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118311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closed Q4 2025 with strong topline growth (+62% QoQ) but left an estimated $17.4K in quarterly revenue on the table, concentrated in a narrow base of products, reps, and accounts. Five targeted interventions are proposed to recover AOV and broaden the revenue base within 2 quarters.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3544824" cy="2834640"/>
          </a:xfrm>
          <a:prstGeom prst="roundRect">
            <a:avLst>
              <a:gd name="adj" fmla="val 2581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50592"/>
            <a:ext cx="3179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&amp;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724912"/>
            <a:ext cx="3179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3200400"/>
            <a:ext cx="31790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tiered pricing &amp; bundle offers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courier allocation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new-account ramp playbook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22064" y="2286000"/>
            <a:ext cx="3544824" cy="2834640"/>
          </a:xfrm>
          <a:prstGeom prst="roundRect">
            <a:avLst>
              <a:gd name="adj" fmla="val 2581"/>
            </a:avLst>
          </a:prstGeom>
          <a:solidFill>
            <a:srgbClr val="EAF4F2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4944" y="2450592"/>
            <a:ext cx="3179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&amp;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04944" y="2724912"/>
            <a:ext cx="3179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04944" y="3200400"/>
            <a:ext cx="31790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AOV, SLA &amp; concentration via dashboard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rising-star products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mentorship pairing progress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41208" y="2286000"/>
            <a:ext cx="3544824" cy="2834640"/>
          </a:xfrm>
          <a:prstGeom prst="roundRect">
            <a:avLst>
              <a:gd name="adj" fmla="val 2581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4088" y="2450592"/>
            <a:ext cx="3179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 &amp; 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4088" y="2724912"/>
            <a:ext cx="31790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24088" y="3200400"/>
            <a:ext cx="31790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AOV recovery vs. $1,661 target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strategies if needed</a:t>
            </a:r>
            <a:endParaRPr lang="en-US" sz="1050" dirty="0"/>
          </a:p>
          <a:p>
            <a:pPr marL="342900" indent="-342900">
              <a:lnSpc>
                <a:spcPct val="125000"/>
              </a:lnSpc>
              <a:buSzPct val="100000"/>
              <a:buChar char="●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revenue diversification to stakeholders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5440680"/>
            <a:ext cx="11183112" cy="822960"/>
          </a:xfrm>
          <a:prstGeom prst="roundRect">
            <a:avLst>
              <a:gd name="adj" fmla="val 8889"/>
            </a:avLst>
          </a:prstGeom>
          <a:solidFill>
            <a:srgbClr val="0F6E77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4406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Goal?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AOV to $1,661+   •   Close the ~$17K quarterly gap   •   Diversify the revenue base   •   Monitored via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6E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B54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46304" cy="146304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94436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Deleonard Simanjorang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3886200"/>
            <a:ext cx="146304" cy="146304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72160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&amp; Phone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+62 812 4154 4992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4663440"/>
            <a:ext cx="146304" cy="146304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449884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
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deleonard20@gmail.com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 | Deleonard Simanjorang | 2026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References &amp; Data Source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References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111831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MetricHQ / Service Club (2025), “On-Time Delivery Rate Benchmarks” → 95%+ on-time (≤5% late) considered strong logistics performance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Opensend (2026), citing Gorgias platform data → repeat customers ≈ 21% of customers generate ~44% of revenue in typical e-commerce/B2B benchmarks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Apollo.io / ClickPost AOV research (2026) → B2B basket-size growth is driven by tiered pricing, bundling &amp; reorder ease — not discounting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160520"/>
            <a:ext cx="11183112" cy="1783080"/>
          </a:xfrm>
          <a:prstGeom prst="roundRect">
            <a:avLst>
              <a:gd name="adj" fmla="val 4103"/>
            </a:avLst>
          </a:prstGeom>
          <a:solidFill>
            <a:srgbClr val="F4F8F7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3159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645152"/>
            <a:ext cx="107259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Traders sample database (PostgreSQL practice dataset)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830 orders · 2,155 order line items · 91 customers · 77 products (FY2024–2025)
</a:t>
            </a:r>
            <a:pPr indent="0" marL="0">
              <a:lnSpc>
                <a:spcPct val="120000"/>
              </a:lnSpc>
              <a:buNone/>
            </a:pPr>
            <a:r>
              <a:rPr lang="en-US" sz="115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name and business narrative are illustrative; underlying order, product, and shipper data are from the dataset above.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Key SQL Queries (1/2)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queries used for 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3611880" cy="4572000"/>
          </a:xfrm>
          <a:prstGeom prst="roundRect">
            <a:avLst>
              <a:gd name="adj" fmla="val 1519"/>
            </a:avLst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691640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T1: Monthly Performance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EXTRACT(MONTH FROM o.order_date) AS month,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COUNT(DISTINCT o.order_id) AS total_orders,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SUM(od.unit_price*od.quantity*(1-od.discount)) AS total_revenue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o JOIN order_details od ON o.order_id=od.order_id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EXTRACT(YEAR FROM o.order_date)=2025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1 ORDER BY 1;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97680" y="1554480"/>
            <a:ext cx="3611880" cy="4572000"/>
          </a:xfrm>
          <a:prstGeom prst="roundRect">
            <a:avLst>
              <a:gd name="adj" fmla="val 1519"/>
            </a:avLst>
          </a:prstGeom>
          <a:solidFill>
            <a:srgbClr val="1F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1691640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T2: Shipper SLA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s.company_name, COUNT(o.order_id) AS shipped_orders,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SUM(CASE WHEN o.shipped_date&gt;o.required_date THEN 1 ELSE 0 END) AS late_orders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o JOIN shippers s ON o.ship_via=s.shipper_id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o.shipped_date IS NOT NULL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s.shipper_id, s.company_name ORDER BY late_orders DESC;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92440" y="1554480"/>
            <a:ext cx="3611880" cy="4572000"/>
          </a:xfrm>
          <a:prstGeom prst="roundRect">
            <a:avLst>
              <a:gd name="adj" fmla="val 1519"/>
            </a:avLst>
          </a:prstGeom>
          <a:solidFill>
            <a:srgbClr val="1F2937"/>
          </a:solidFill>
          <a:ln/>
        </p:spPr>
      </p:sp>
      <p:sp>
        <p:nvSpPr>
          <p:cNvPr id="14" name="Text 12"/>
          <p:cNvSpPr/>
          <p:nvPr/>
        </p:nvSpPr>
        <p:spPr>
          <a:xfrm>
            <a:off x="8257032" y="1691640"/>
            <a:ext cx="3291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T3: Top 10 Products by Revenue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p.product_name, c.category_name,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SUM(od.unit_price*od.quantity*(1-od.discount)) AS total_revenue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o JOIN order_details od ON o.order_id=od.order_id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products p ON od.product_id=p.product_id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categories c ON p.category_id=c.category_id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p.product_name, c.category_name, p.unit_price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total_revenue DESC LIMIT 10;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Key SQL Queries (2/2)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queries used for 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5440680" cy="4892040"/>
          </a:xfrm>
          <a:prstGeom prst="roundRect">
            <a:avLst>
              <a:gd name="adj" fmla="val 1121"/>
            </a:avLst>
          </a:prstGeom>
          <a:solidFill>
            <a:srgbClr val="1F29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91640"/>
            <a:ext cx="51206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T4: Sales Rep Scorecard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order_totals AS (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o.order_id, o.employee_id,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SUM(od.unit_price*od.quantity*(1-od.discount)) AS order_total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 o JOIN order_details od ON o.order_id=od.order_id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o.order_id, o.employee_id)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CONCAT(e.first_name,' ',e.last_name) AS sales_rep,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COUNT(ot.order_id) AS total_orders,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ROUND(AVG(ot.order_total)::numeric,2) AS avg_order_value,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ROUND((100.0*SUM(CASE WHEN ot.order_total&gt;1000 THEN 1 ELSE 0 END)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/COUNT(ot.order_id))::numeric,2) AS big_order_pct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order_totals ot JOIN employees e ON ot.employee_id=e.employee_id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sales_rep ORDER BY big_order_pct DESC;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5440680" cy="4892040"/>
          </a:xfrm>
          <a:prstGeom prst="roundRect">
            <a:avLst>
              <a:gd name="adj" fmla="val 1121"/>
            </a:avLst>
          </a:prstGeom>
          <a:solidFill>
            <a:srgbClr val="1F2937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691640"/>
            <a:ext cx="512064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T5: New vs Loyal Customers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first_order AS (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customer_id, MIN(order_date) AS first_order_date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 GROUP BY customer_id),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orders_2025 AS (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o.order_id, o.customer_id FROM orders o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o.order_date &gt;= DATE '2025-01-01'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o.order_date &lt; DATE '2026-01-01'),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orders_with_revenue AS (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o25.order_id, o25.customer_id,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SUM(od.unit_price*od.quantity*(1-od.discount)) AS revenue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orders_2025 o25 JOIN order_details od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o25.order_id=od.order_id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o25.order_id, o25.customer_id)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CASE WHEN fo.first_order_date &gt;= DATE '2025-01-01'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THEN 'NEW' ELSE 'LOYAL' END AS segment,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COUNT(DISTINCT owr.order_id) AS orders,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ROUND(SUM(owr.revenue)::numeric,2) AS revenue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orders_with_revenue owr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first_order fo ON owr.customer_id=fo.customer_id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1 ORDER BY 1;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98E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ANALYTICS PROJECT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0954512" y="365760"/>
            <a:ext cx="219456" cy="219456"/>
          </a:xfrm>
          <a:prstGeom prst="ellipse">
            <a:avLst/>
          </a:prstGeom>
          <a:solidFill>
            <a:srgbClr val="0F6E77"/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420624"/>
            <a:ext cx="128016" cy="128016"/>
          </a:xfrm>
          <a:prstGeom prst="ellipse">
            <a:avLst/>
          </a:prstGeom>
          <a:solidFill>
            <a:srgbClr val="D98E04"/>
          </a:solidFill>
          <a:ln/>
        </p:spPr>
      </p:sp>
      <p:sp>
        <p:nvSpPr>
          <p:cNvPr id="5" name="Text 3"/>
          <p:cNvSpPr/>
          <p:nvPr/>
        </p:nvSpPr>
        <p:spPr>
          <a:xfrm>
            <a:off x="11228832" y="3291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— About the Analyst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02920" y="65288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Meridian Pangan Global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1371600" cy="1371600"/>
          </a:xfrm>
          <a:prstGeom prst="ellipse">
            <a:avLst/>
          </a:prstGeom>
          <a:solidFill>
            <a:srgbClr val="EAF4F2"/>
          </a:solidFill>
          <a:ln w="19050">
            <a:solidFill>
              <a:srgbClr val="0F6E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1488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Deleonard Simanjorang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148840" y="1993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| People &amp; Commercial Analytics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2359152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 HR &amp; Business Operations, transitioning into data analytics with focus on workforce analytics, commercial/revenue analytics, and operational efficiency.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685032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(PostgreSQL, MySQL, BigQuery)  ·  Python  ·  Power BI  ·  Tableau  ·  Excel  ·  Data Visualization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4805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782312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Business Intelligence Analyst — Digital Skola (2026)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Stack Data Analytics — RevoU (2025)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Microsoft Excel Mastery — Digital Skola (2026)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6E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685032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Deleonard Simanjorang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 [Link]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deleonard20@gmail.com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&amp; Revenue Performance Analysis - Meridian Pangan Global</dc:title>
  <dc:subject>PptxGenJS Presentation</dc:subject>
  <dc:creator>Deleonard Simanjorang</dc:creator>
  <cp:lastModifiedBy>Deleonard Simanjorang</cp:lastModifiedBy>
  <cp:revision>1</cp:revision>
  <dcterms:created xsi:type="dcterms:W3CDTF">2026-07-14T07:39:03Z</dcterms:created>
  <dcterms:modified xsi:type="dcterms:W3CDTF">2026-07-14T07:39:03Z</dcterms:modified>
</cp:coreProperties>
</file>